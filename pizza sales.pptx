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Playfair Display Bold" charset="1" panose="00000000000000000000"/>
      <p:regular r:id="rId23"/>
    </p:embeddedFont>
    <p:embeddedFont>
      <p:font typeface="Playfair Display" charset="1" panose="00000000000000000000"/>
      <p:regular r:id="rId24"/>
    </p:embeddedFont>
    <p:embeddedFont>
      <p:font typeface="Work Sans Bold" charset="1" panose="000000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http://www.linkedin.com/in/vibhav101" TargetMode="External" Type="http://schemas.openxmlformats.org/officeDocument/2006/relationships/hyperlink"/><Relationship Id="rId7" Target="../media/image6.png" Type="http://schemas.openxmlformats.org/officeDocument/2006/relationships/image"/><Relationship Id="rId8" Target="../media/image7.svg" Type="http://schemas.openxmlformats.org/officeDocument/2006/relationships/image"/><Relationship Id="rId9" Target="http://github.com/vibhavpandey1234-hue" TargetMode="External" Type="http://schemas.openxmlformats.org/officeDocument/2006/relationships/hyperlink"/></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jpeg" Type="http://schemas.openxmlformats.org/officeDocument/2006/relationships/image"/><Relationship Id="rId4"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jpeg" Type="http://schemas.openxmlformats.org/officeDocument/2006/relationships/image"/><Relationship Id="rId4"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jpeg" Type="http://schemas.openxmlformats.org/officeDocument/2006/relationships/image"/><Relationship Id="rId4"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jpeg" Type="http://schemas.openxmlformats.org/officeDocument/2006/relationships/image"/><Relationship Id="rId4"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jpeg" Type="http://schemas.openxmlformats.org/officeDocument/2006/relationships/image"/><Relationship Id="rId4"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jpeg" Type="http://schemas.openxmlformats.org/officeDocument/2006/relationships/image"/><Relationship Id="rId4"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jpeg" Type="http://schemas.openxmlformats.org/officeDocument/2006/relationships/image"/><Relationship Id="rId4" Target="../media/image1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jpeg" Type="http://schemas.openxmlformats.org/officeDocument/2006/relationships/image"/><Relationship Id="rId4" Target="../media/image1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jpeg" Type="http://schemas.openxmlformats.org/officeDocument/2006/relationships/image"/><Relationship Id="rId4" Target="../media/image1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jpeg" Type="http://schemas.openxmlformats.org/officeDocument/2006/relationships/image"/><Relationship Id="rId4" Target="../media/image1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jpeg" Type="http://schemas.openxmlformats.org/officeDocument/2006/relationships/image"/><Relationship Id="rId4" Target="../media/image2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jpeg" Type="http://schemas.openxmlformats.org/officeDocument/2006/relationships/image"/><Relationship Id="rId4" Target="../media/image2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sp>
        <p:nvSpPr>
          <p:cNvPr name="TextBox 3" id="3"/>
          <p:cNvSpPr txBox="true"/>
          <p:nvPr/>
        </p:nvSpPr>
        <p:spPr>
          <a:xfrm rot="0">
            <a:off x="1028700" y="2973386"/>
            <a:ext cx="16230600" cy="3006727"/>
          </a:xfrm>
          <a:prstGeom prst="rect">
            <a:avLst/>
          </a:prstGeom>
        </p:spPr>
        <p:txBody>
          <a:bodyPr anchor="t" rtlCol="false" tIns="0" lIns="0" bIns="0" rIns="0">
            <a:spAutoFit/>
          </a:bodyPr>
          <a:lstStyle/>
          <a:p>
            <a:pPr algn="ctr">
              <a:lnSpc>
                <a:spcPts val="17500"/>
              </a:lnSpc>
            </a:pPr>
            <a:r>
              <a:rPr lang="en-US" b="true" sz="35000">
                <a:solidFill>
                  <a:srgbClr val="C8360D"/>
                </a:solidFill>
                <a:latin typeface="Playfair Display Bold"/>
                <a:ea typeface="Playfair Display Bold"/>
                <a:cs typeface="Playfair Display Bold"/>
                <a:sym typeface="Playfair Display Bold"/>
              </a:rPr>
              <a:t>PIZZA</a:t>
            </a:r>
          </a:p>
        </p:txBody>
      </p:sp>
      <p:grpSp>
        <p:nvGrpSpPr>
          <p:cNvPr name="Group 4" id="4"/>
          <p:cNvGrpSpPr/>
          <p:nvPr/>
        </p:nvGrpSpPr>
        <p:grpSpPr>
          <a:xfrm rot="0">
            <a:off x="9144000" y="7200900"/>
            <a:ext cx="9144000" cy="3086100"/>
            <a:chOff x="0" y="0"/>
            <a:chExt cx="2408296" cy="812800"/>
          </a:xfrm>
        </p:grpSpPr>
        <p:sp>
          <p:nvSpPr>
            <p:cNvPr name="Freeform 5" id="5"/>
            <p:cNvSpPr/>
            <p:nvPr/>
          </p:nvSpPr>
          <p:spPr>
            <a:xfrm flipH="false" flipV="false" rot="0">
              <a:off x="0" y="0"/>
              <a:ext cx="2408296" cy="812800"/>
            </a:xfrm>
            <a:custGeom>
              <a:avLst/>
              <a:gdLst/>
              <a:ahLst/>
              <a:cxnLst/>
              <a:rect r="r" b="b" t="t" l="l"/>
              <a:pathLst>
                <a:path h="812800" w="2408296">
                  <a:moveTo>
                    <a:pt x="0" y="0"/>
                  </a:moveTo>
                  <a:lnTo>
                    <a:pt x="2408296" y="0"/>
                  </a:lnTo>
                  <a:lnTo>
                    <a:pt x="2408296" y="812800"/>
                  </a:lnTo>
                  <a:lnTo>
                    <a:pt x="0" y="812800"/>
                  </a:lnTo>
                  <a:close/>
                </a:path>
              </a:pathLst>
            </a:custGeom>
            <a:solidFill>
              <a:srgbClr val="C8360D"/>
            </a:solidFill>
          </p:spPr>
        </p:sp>
        <p:sp>
          <p:nvSpPr>
            <p:cNvPr name="TextBox 6" id="6"/>
            <p:cNvSpPr txBox="true"/>
            <p:nvPr/>
          </p:nvSpPr>
          <p:spPr>
            <a:xfrm>
              <a:off x="0" y="-47625"/>
              <a:ext cx="2408296" cy="860425"/>
            </a:xfrm>
            <a:prstGeom prst="rect">
              <a:avLst/>
            </a:prstGeom>
          </p:spPr>
          <p:txBody>
            <a:bodyPr anchor="ctr" rtlCol="false" tIns="50800" lIns="50800" bIns="50800" rIns="50800"/>
            <a:lstStyle/>
            <a:p>
              <a:pPr algn="ctr">
                <a:lnSpc>
                  <a:spcPts val="2520"/>
                </a:lnSpc>
              </a:pPr>
            </a:p>
          </p:txBody>
        </p:sp>
      </p:grpSp>
      <p:sp>
        <p:nvSpPr>
          <p:cNvPr name="Freeform 7" id="7"/>
          <p:cNvSpPr/>
          <p:nvPr/>
        </p:nvSpPr>
        <p:spPr>
          <a:xfrm flipH="false" flipV="false" rot="0">
            <a:off x="4749807" y="3662343"/>
            <a:ext cx="7718133" cy="4901015"/>
          </a:xfrm>
          <a:custGeom>
            <a:avLst/>
            <a:gdLst/>
            <a:ahLst/>
            <a:cxnLst/>
            <a:rect r="r" b="b" t="t" l="l"/>
            <a:pathLst>
              <a:path h="4901015" w="7718133">
                <a:moveTo>
                  <a:pt x="0" y="0"/>
                </a:moveTo>
                <a:lnTo>
                  <a:pt x="7718133" y="0"/>
                </a:lnTo>
                <a:lnTo>
                  <a:pt x="7718133" y="4901014"/>
                </a:lnTo>
                <a:lnTo>
                  <a:pt x="0" y="4901014"/>
                </a:lnTo>
                <a:lnTo>
                  <a:pt x="0" y="0"/>
                </a:lnTo>
                <a:close/>
              </a:path>
            </a:pathLst>
          </a:custGeom>
          <a:blipFill>
            <a:blip r:embed="rId3"/>
            <a:stretch>
              <a:fillRect l="0" t="0" r="0" b="0"/>
            </a:stretch>
          </a:blipFill>
        </p:spPr>
      </p:sp>
      <p:sp>
        <p:nvSpPr>
          <p:cNvPr name="TextBox 8" id="8"/>
          <p:cNvSpPr txBox="true"/>
          <p:nvPr/>
        </p:nvSpPr>
        <p:spPr>
          <a:xfrm rot="0">
            <a:off x="10469880" y="7285688"/>
            <a:ext cx="6492240" cy="2621250"/>
          </a:xfrm>
          <a:prstGeom prst="rect">
            <a:avLst/>
          </a:prstGeom>
        </p:spPr>
        <p:txBody>
          <a:bodyPr anchor="t" rtlCol="false" tIns="0" lIns="0" bIns="0" rIns="0">
            <a:spAutoFit/>
          </a:bodyPr>
          <a:lstStyle/>
          <a:p>
            <a:pPr algn="ctr" marL="0" indent="0" lvl="0">
              <a:lnSpc>
                <a:spcPts val="21421"/>
              </a:lnSpc>
              <a:spcBef>
                <a:spcPct val="0"/>
              </a:spcBef>
            </a:pPr>
            <a:r>
              <a:rPr lang="en-US" sz="15301">
                <a:solidFill>
                  <a:srgbClr val="FFFFFF"/>
                </a:solidFill>
                <a:latin typeface="Playfair Display"/>
                <a:ea typeface="Playfair Display"/>
                <a:cs typeface="Playfair Display"/>
                <a:sym typeface="Playfair Display"/>
              </a:rPr>
              <a:t>SALES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2453088" y="-3772790"/>
            <a:ext cx="10637514" cy="1063751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925" t="0" r="-925" b="0"/>
              </a:stretch>
            </a:blipFill>
          </p:spPr>
        </p:sp>
      </p:grpSp>
      <p:sp>
        <p:nvSpPr>
          <p:cNvPr name="Freeform 5" id="5">
            <a:hlinkClick r:id="rId6" tooltip="http://www.linkedin.com/in/vibhav101"/>
          </p:cNvPr>
          <p:cNvSpPr/>
          <p:nvPr/>
        </p:nvSpPr>
        <p:spPr>
          <a:xfrm flipH="false" flipV="false" rot="0">
            <a:off x="8842572" y="424209"/>
            <a:ext cx="947894" cy="808295"/>
          </a:xfrm>
          <a:custGeom>
            <a:avLst/>
            <a:gdLst/>
            <a:ahLst/>
            <a:cxnLst/>
            <a:rect r="r" b="b" t="t" l="l"/>
            <a:pathLst>
              <a:path h="808295" w="947894">
                <a:moveTo>
                  <a:pt x="0" y="0"/>
                </a:moveTo>
                <a:lnTo>
                  <a:pt x="947895" y="0"/>
                </a:lnTo>
                <a:lnTo>
                  <a:pt x="947895" y="808295"/>
                </a:lnTo>
                <a:lnTo>
                  <a:pt x="0" y="8082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a:hlinkClick r:id="rId9" tooltip="http://github.com/vibhavpandey1234-hue"/>
          </p:cNvPr>
          <p:cNvSpPr/>
          <p:nvPr/>
        </p:nvSpPr>
        <p:spPr>
          <a:xfrm flipH="false" flipV="false" rot="0">
            <a:off x="10447692" y="424209"/>
            <a:ext cx="799478" cy="808295"/>
          </a:xfrm>
          <a:custGeom>
            <a:avLst/>
            <a:gdLst/>
            <a:ahLst/>
            <a:cxnLst/>
            <a:rect r="r" b="b" t="t" l="l"/>
            <a:pathLst>
              <a:path h="808295" w="799478">
                <a:moveTo>
                  <a:pt x="0" y="0"/>
                </a:moveTo>
                <a:lnTo>
                  <a:pt x="799477" y="0"/>
                </a:lnTo>
                <a:lnTo>
                  <a:pt x="799477" y="808295"/>
                </a:lnTo>
                <a:lnTo>
                  <a:pt x="0" y="80829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1028700" y="620711"/>
            <a:ext cx="1895789" cy="207645"/>
          </a:xfrm>
          <a:prstGeom prst="rect">
            <a:avLst/>
          </a:prstGeom>
        </p:spPr>
        <p:txBody>
          <a:bodyPr anchor="t" rtlCol="false" tIns="0" lIns="0" bIns="0" rIns="0">
            <a:spAutoFit/>
          </a:bodyPr>
          <a:lstStyle/>
          <a:p>
            <a:pPr algn="l">
              <a:lnSpc>
                <a:spcPts val="1679"/>
              </a:lnSpc>
              <a:spcBef>
                <a:spcPct val="0"/>
              </a:spcBef>
            </a:pPr>
            <a:r>
              <a:rPr lang="en-US" b="true" sz="1200">
                <a:solidFill>
                  <a:srgbClr val="FFFFFF"/>
                </a:solidFill>
                <a:latin typeface="Work Sans Bold"/>
                <a:ea typeface="Work Sans Bold"/>
                <a:cs typeface="Work Sans Bold"/>
                <a:sym typeface="Work Sans Bold"/>
              </a:rPr>
              <a:t>INGOUDE COMPANY</a:t>
            </a:r>
          </a:p>
        </p:txBody>
      </p:sp>
      <p:sp>
        <p:nvSpPr>
          <p:cNvPr name="TextBox 8" id="8"/>
          <p:cNvSpPr txBox="true"/>
          <p:nvPr/>
        </p:nvSpPr>
        <p:spPr>
          <a:xfrm rot="0">
            <a:off x="9041677" y="2639518"/>
            <a:ext cx="8217623" cy="621030"/>
          </a:xfrm>
          <a:prstGeom prst="rect">
            <a:avLst/>
          </a:prstGeom>
        </p:spPr>
        <p:txBody>
          <a:bodyPr anchor="t" rtlCol="false" tIns="0" lIns="0" bIns="0" rIns="0">
            <a:spAutoFit/>
          </a:bodyPr>
          <a:lstStyle/>
          <a:p>
            <a:pPr algn="l">
              <a:lnSpc>
                <a:spcPts val="3600"/>
              </a:lnSpc>
            </a:pPr>
            <a:r>
              <a:rPr lang="en-US" sz="7200">
                <a:solidFill>
                  <a:srgbClr val="C8360D"/>
                </a:solidFill>
                <a:latin typeface="Playfair Display"/>
                <a:ea typeface="Playfair Display"/>
                <a:cs typeface="Playfair Display"/>
                <a:sym typeface="Playfair Display"/>
              </a:rPr>
              <a:t>ABOUT ME</a:t>
            </a:r>
          </a:p>
        </p:txBody>
      </p:sp>
      <p:sp>
        <p:nvSpPr>
          <p:cNvPr name="TextBox 9" id="9"/>
          <p:cNvSpPr txBox="true"/>
          <p:nvPr/>
        </p:nvSpPr>
        <p:spPr>
          <a:xfrm rot="0">
            <a:off x="9041677" y="3918879"/>
            <a:ext cx="8217623" cy="4180841"/>
          </a:xfrm>
          <a:prstGeom prst="rect">
            <a:avLst/>
          </a:prstGeom>
        </p:spPr>
        <p:txBody>
          <a:bodyPr anchor="t" rtlCol="false" tIns="0" lIns="0" bIns="0" rIns="0">
            <a:spAutoFit/>
          </a:bodyPr>
          <a:lstStyle/>
          <a:p>
            <a:pPr algn="l">
              <a:lnSpc>
                <a:spcPts val="4759"/>
              </a:lnSpc>
            </a:pPr>
            <a:r>
              <a:rPr lang="en-US" sz="3399">
                <a:solidFill>
                  <a:srgbClr val="000000"/>
                </a:solidFill>
                <a:latin typeface="Playfair Display"/>
                <a:ea typeface="Playfair Display"/>
                <a:cs typeface="Playfair Display"/>
                <a:sym typeface="Playfair Display"/>
              </a:rPr>
              <a:t>I am Vibhav K. Pandey, a recent postgraduate in statistics. During my master's, I developed a keen interest in data and allied fields. I also got 5</a:t>
            </a:r>
            <a:r>
              <a:rPr lang="en-US" sz="3399">
                <a:solidFill>
                  <a:srgbClr val="000000"/>
                </a:solidFill>
                <a:latin typeface="Playfair Display"/>
                <a:ea typeface="Playfair Display"/>
                <a:cs typeface="Playfair Display"/>
                <a:sym typeface="Playfair Display"/>
              </a:rPr>
              <a:t>th</a:t>
            </a:r>
            <a:r>
              <a:rPr lang="en-US" sz="3399">
                <a:solidFill>
                  <a:srgbClr val="000000"/>
                </a:solidFill>
                <a:latin typeface="Playfair Display"/>
                <a:ea typeface="Playfair Display"/>
                <a:cs typeface="Playfair Display"/>
                <a:sym typeface="Playfair Display"/>
              </a:rPr>
              <a:t> rank in my university.</a:t>
            </a:r>
          </a:p>
          <a:p>
            <a:pPr algn="l">
              <a:lnSpc>
                <a:spcPts val="4759"/>
              </a:lnSpc>
              <a:spcBef>
                <a:spcPct val="0"/>
              </a:spcBef>
            </a:pPr>
            <a:r>
              <a:rPr lang="en-US" sz="3399">
                <a:solidFill>
                  <a:srgbClr val="000000"/>
                </a:solidFill>
                <a:latin typeface="Playfair Display"/>
                <a:ea typeface="Playfair Display"/>
                <a:cs typeface="Playfair Display"/>
                <a:sym typeface="Playfair Display"/>
              </a:rPr>
              <a:t>I love to play with data and draw meaningful insights from it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10275414" y="1028700"/>
            <a:ext cx="10279148" cy="1027914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8360D"/>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0657415" y="1312262"/>
            <a:ext cx="10172003" cy="1017200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91" r="0" b="-91"/>
              </a:stretch>
            </a:blipFill>
          </p:spPr>
        </p:sp>
      </p:grpSp>
      <p:sp>
        <p:nvSpPr>
          <p:cNvPr name="TextBox 8" id="8"/>
          <p:cNvSpPr txBox="true"/>
          <p:nvPr/>
        </p:nvSpPr>
        <p:spPr>
          <a:xfrm rot="0">
            <a:off x="1028700" y="2464241"/>
            <a:ext cx="8115300" cy="690864"/>
          </a:xfrm>
          <a:prstGeom prst="rect">
            <a:avLst/>
          </a:prstGeom>
        </p:spPr>
        <p:txBody>
          <a:bodyPr anchor="t" rtlCol="false" tIns="0" lIns="0" bIns="0" rIns="0">
            <a:spAutoFit/>
          </a:bodyPr>
          <a:lstStyle/>
          <a:p>
            <a:pPr algn="l">
              <a:lnSpc>
                <a:spcPts val="4099"/>
              </a:lnSpc>
            </a:pPr>
            <a:r>
              <a:rPr lang="en-US" sz="8199" b="true">
                <a:solidFill>
                  <a:srgbClr val="C8360D"/>
                </a:solidFill>
                <a:latin typeface="Playfair Display Bold"/>
                <a:ea typeface="Playfair Display Bold"/>
                <a:cs typeface="Playfair Display Bold"/>
                <a:sym typeface="Playfair Display Bold"/>
              </a:rPr>
              <a:t> Project details</a:t>
            </a:r>
          </a:p>
        </p:txBody>
      </p:sp>
      <p:sp>
        <p:nvSpPr>
          <p:cNvPr name="TextBox 9" id="9"/>
          <p:cNvSpPr txBox="true"/>
          <p:nvPr/>
        </p:nvSpPr>
        <p:spPr>
          <a:xfrm rot="0">
            <a:off x="1317900" y="3643254"/>
            <a:ext cx="7536900" cy="5688215"/>
          </a:xfrm>
          <a:prstGeom prst="rect">
            <a:avLst/>
          </a:prstGeom>
        </p:spPr>
        <p:txBody>
          <a:bodyPr anchor="t" rtlCol="false" tIns="0" lIns="0" bIns="0" rIns="0">
            <a:spAutoFit/>
          </a:bodyPr>
          <a:lstStyle/>
          <a:p>
            <a:pPr algn="l">
              <a:lnSpc>
                <a:spcPts val="5676"/>
              </a:lnSpc>
              <a:spcBef>
                <a:spcPct val="0"/>
              </a:spcBef>
            </a:pPr>
            <a:r>
              <a:rPr lang="en-US" sz="4054">
                <a:solidFill>
                  <a:srgbClr val="000000"/>
                </a:solidFill>
                <a:latin typeface="Playfair Display"/>
                <a:ea typeface="Playfair Display"/>
                <a:cs typeface="Playfair Display"/>
                <a:sym typeface="Playfair Display"/>
              </a:rPr>
              <a:t>In this project, we have data related to the sales of pizzas in the form of CSV files. By loading those files in SQL and performing various operations (like joins and group), we tried to solve problems related to sales.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14059931" y="1447871"/>
            <a:ext cx="5246370" cy="7391257"/>
            <a:chOff x="0" y="0"/>
            <a:chExt cx="812800" cy="1145099"/>
          </a:xfrm>
        </p:grpSpPr>
        <p:sp>
          <p:nvSpPr>
            <p:cNvPr name="Freeform 4" id="4"/>
            <p:cNvSpPr/>
            <p:nvPr/>
          </p:nvSpPr>
          <p:spPr>
            <a:xfrm flipH="false" flipV="false" rot="0">
              <a:off x="0" y="0"/>
              <a:ext cx="812800" cy="1145099"/>
            </a:xfrm>
            <a:custGeom>
              <a:avLst/>
              <a:gdLst/>
              <a:ahLst/>
              <a:cxnLst/>
              <a:rect r="r" b="b" t="t" l="l"/>
              <a:pathLst>
                <a:path h="1145099" w="812800">
                  <a:moveTo>
                    <a:pt x="33940" y="0"/>
                  </a:moveTo>
                  <a:lnTo>
                    <a:pt x="778860" y="0"/>
                  </a:lnTo>
                  <a:cubicBezTo>
                    <a:pt x="797604" y="0"/>
                    <a:pt x="812800" y="15196"/>
                    <a:pt x="812800" y="33940"/>
                  </a:cubicBezTo>
                  <a:lnTo>
                    <a:pt x="812800" y="1111159"/>
                  </a:lnTo>
                  <a:cubicBezTo>
                    <a:pt x="812800" y="1129904"/>
                    <a:pt x="797604" y="1145099"/>
                    <a:pt x="778860" y="1145099"/>
                  </a:cubicBezTo>
                  <a:lnTo>
                    <a:pt x="33940" y="1145099"/>
                  </a:lnTo>
                  <a:cubicBezTo>
                    <a:pt x="24939" y="1145099"/>
                    <a:pt x="16306" y="1141523"/>
                    <a:pt x="9941" y="1135158"/>
                  </a:cubicBezTo>
                  <a:cubicBezTo>
                    <a:pt x="3576" y="1128793"/>
                    <a:pt x="0" y="1120160"/>
                    <a:pt x="0" y="1111159"/>
                  </a:cubicBezTo>
                  <a:lnTo>
                    <a:pt x="0" y="33940"/>
                  </a:lnTo>
                  <a:cubicBezTo>
                    <a:pt x="0" y="15196"/>
                    <a:pt x="15196" y="0"/>
                    <a:pt x="33940" y="0"/>
                  </a:cubicBezTo>
                  <a:close/>
                </a:path>
              </a:pathLst>
            </a:custGeom>
            <a:blipFill>
              <a:blip r:embed="rId3"/>
              <a:stretch>
                <a:fillRect l="-59716" t="-22302" r="-44988" b="-22999"/>
              </a:stretch>
            </a:blipFill>
          </p:spPr>
        </p:sp>
      </p:grpSp>
      <p:sp>
        <p:nvSpPr>
          <p:cNvPr name="Freeform 5" id="5"/>
          <p:cNvSpPr/>
          <p:nvPr/>
        </p:nvSpPr>
        <p:spPr>
          <a:xfrm flipH="false" flipV="false" rot="0">
            <a:off x="196193" y="3812851"/>
            <a:ext cx="13527407" cy="657987"/>
          </a:xfrm>
          <a:custGeom>
            <a:avLst/>
            <a:gdLst/>
            <a:ahLst/>
            <a:cxnLst/>
            <a:rect r="r" b="b" t="t" l="l"/>
            <a:pathLst>
              <a:path h="657987" w="13527407">
                <a:moveTo>
                  <a:pt x="0" y="0"/>
                </a:moveTo>
                <a:lnTo>
                  <a:pt x="13527407" y="0"/>
                </a:lnTo>
                <a:lnTo>
                  <a:pt x="13527407" y="657987"/>
                </a:lnTo>
                <a:lnTo>
                  <a:pt x="0" y="657987"/>
                </a:lnTo>
                <a:lnTo>
                  <a:pt x="0" y="0"/>
                </a:lnTo>
                <a:close/>
              </a:path>
            </a:pathLst>
          </a:custGeom>
          <a:blipFill>
            <a:blip r:embed="rId4"/>
            <a:stretch>
              <a:fillRect l="-2588" t="0" r="0" b="0"/>
            </a:stretch>
          </a:blipFill>
        </p:spPr>
      </p:sp>
      <p:sp>
        <p:nvSpPr>
          <p:cNvPr name="TextBox 6" id="6"/>
          <p:cNvSpPr txBox="true"/>
          <p:nvPr/>
        </p:nvSpPr>
        <p:spPr>
          <a:xfrm rot="0">
            <a:off x="423105" y="1343025"/>
            <a:ext cx="11687742" cy="400301"/>
          </a:xfrm>
          <a:prstGeom prst="rect">
            <a:avLst/>
          </a:prstGeom>
        </p:spPr>
        <p:txBody>
          <a:bodyPr anchor="t" rtlCol="false" tIns="0" lIns="0" bIns="0" rIns="0">
            <a:spAutoFit/>
          </a:bodyPr>
          <a:lstStyle/>
          <a:p>
            <a:pPr algn="l">
              <a:lnSpc>
                <a:spcPts val="2358"/>
              </a:lnSpc>
            </a:pPr>
            <a:r>
              <a:rPr lang="en-US" sz="4717" b="true">
                <a:solidFill>
                  <a:srgbClr val="C8360D"/>
                </a:solidFill>
                <a:latin typeface="Playfair Display Bold"/>
                <a:ea typeface="Playfair Display Bold"/>
                <a:cs typeface="Playfair Display Bold"/>
                <a:sym typeface="Playfair Display Bold"/>
              </a:rPr>
              <a:t>Retrieve the total number of orders placed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13527407" y="1028700"/>
            <a:ext cx="5246370" cy="7391257"/>
            <a:chOff x="0" y="0"/>
            <a:chExt cx="812800" cy="1145099"/>
          </a:xfrm>
        </p:grpSpPr>
        <p:sp>
          <p:nvSpPr>
            <p:cNvPr name="Freeform 4" id="4"/>
            <p:cNvSpPr/>
            <p:nvPr/>
          </p:nvSpPr>
          <p:spPr>
            <a:xfrm flipH="false" flipV="false" rot="0">
              <a:off x="0" y="0"/>
              <a:ext cx="812800" cy="1145099"/>
            </a:xfrm>
            <a:custGeom>
              <a:avLst/>
              <a:gdLst/>
              <a:ahLst/>
              <a:cxnLst/>
              <a:rect r="r" b="b" t="t" l="l"/>
              <a:pathLst>
                <a:path h="1145099" w="812800">
                  <a:moveTo>
                    <a:pt x="33940" y="0"/>
                  </a:moveTo>
                  <a:lnTo>
                    <a:pt x="778860" y="0"/>
                  </a:lnTo>
                  <a:cubicBezTo>
                    <a:pt x="797604" y="0"/>
                    <a:pt x="812800" y="15196"/>
                    <a:pt x="812800" y="33940"/>
                  </a:cubicBezTo>
                  <a:lnTo>
                    <a:pt x="812800" y="1111159"/>
                  </a:lnTo>
                  <a:cubicBezTo>
                    <a:pt x="812800" y="1129904"/>
                    <a:pt x="797604" y="1145099"/>
                    <a:pt x="778860" y="1145099"/>
                  </a:cubicBezTo>
                  <a:lnTo>
                    <a:pt x="33940" y="1145099"/>
                  </a:lnTo>
                  <a:cubicBezTo>
                    <a:pt x="24939" y="1145099"/>
                    <a:pt x="16306" y="1141523"/>
                    <a:pt x="9941" y="1135158"/>
                  </a:cubicBezTo>
                  <a:cubicBezTo>
                    <a:pt x="3576" y="1128793"/>
                    <a:pt x="0" y="1120160"/>
                    <a:pt x="0" y="1111159"/>
                  </a:cubicBezTo>
                  <a:lnTo>
                    <a:pt x="0" y="33940"/>
                  </a:lnTo>
                  <a:cubicBezTo>
                    <a:pt x="0" y="15196"/>
                    <a:pt x="15196" y="0"/>
                    <a:pt x="33940" y="0"/>
                  </a:cubicBezTo>
                  <a:close/>
                </a:path>
              </a:pathLst>
            </a:custGeom>
            <a:blipFill>
              <a:blip r:embed="rId3"/>
              <a:stretch>
                <a:fillRect l="-59716" t="-22302" r="-44988" b="-22999"/>
              </a:stretch>
            </a:blipFill>
          </p:spPr>
        </p:sp>
      </p:grpSp>
      <p:sp>
        <p:nvSpPr>
          <p:cNvPr name="Freeform 5" id="5"/>
          <p:cNvSpPr/>
          <p:nvPr/>
        </p:nvSpPr>
        <p:spPr>
          <a:xfrm flipH="false" flipV="false" rot="0">
            <a:off x="1368151" y="2625825"/>
            <a:ext cx="10255900" cy="3654169"/>
          </a:xfrm>
          <a:custGeom>
            <a:avLst/>
            <a:gdLst/>
            <a:ahLst/>
            <a:cxnLst/>
            <a:rect r="r" b="b" t="t" l="l"/>
            <a:pathLst>
              <a:path h="3654169" w="10255900">
                <a:moveTo>
                  <a:pt x="0" y="0"/>
                </a:moveTo>
                <a:lnTo>
                  <a:pt x="10255900" y="0"/>
                </a:lnTo>
                <a:lnTo>
                  <a:pt x="10255900" y="3654169"/>
                </a:lnTo>
                <a:lnTo>
                  <a:pt x="0" y="3654169"/>
                </a:lnTo>
                <a:lnTo>
                  <a:pt x="0" y="0"/>
                </a:lnTo>
                <a:close/>
              </a:path>
            </a:pathLst>
          </a:custGeom>
          <a:blipFill>
            <a:blip r:embed="rId4"/>
            <a:stretch>
              <a:fillRect l="0" t="0" r="0" b="0"/>
            </a:stretch>
          </a:blipFill>
        </p:spPr>
      </p:sp>
      <p:sp>
        <p:nvSpPr>
          <p:cNvPr name="TextBox 6" id="6"/>
          <p:cNvSpPr txBox="true"/>
          <p:nvPr/>
        </p:nvSpPr>
        <p:spPr>
          <a:xfrm rot="0">
            <a:off x="0" y="984124"/>
            <a:ext cx="14051867" cy="365377"/>
          </a:xfrm>
          <a:prstGeom prst="rect">
            <a:avLst/>
          </a:prstGeom>
        </p:spPr>
        <p:txBody>
          <a:bodyPr anchor="t" rtlCol="false" tIns="0" lIns="0" bIns="0" rIns="0">
            <a:spAutoFit/>
          </a:bodyPr>
          <a:lstStyle/>
          <a:p>
            <a:pPr algn="l">
              <a:lnSpc>
                <a:spcPts val="2108"/>
              </a:lnSpc>
            </a:pPr>
            <a:r>
              <a:rPr lang="en-US" sz="4217" b="true">
                <a:solidFill>
                  <a:srgbClr val="C8360D"/>
                </a:solidFill>
                <a:latin typeface="Playfair Display Bold"/>
                <a:ea typeface="Playfair Display Bold"/>
                <a:cs typeface="Playfair Display Bold"/>
                <a:sym typeface="Playfair Display Bold"/>
              </a:rPr>
              <a:t>Calculate the total revenue generated from pizza sales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13527407" y="1028700"/>
            <a:ext cx="5246370" cy="7391257"/>
            <a:chOff x="0" y="0"/>
            <a:chExt cx="812800" cy="1145099"/>
          </a:xfrm>
        </p:grpSpPr>
        <p:sp>
          <p:nvSpPr>
            <p:cNvPr name="Freeform 4" id="4"/>
            <p:cNvSpPr/>
            <p:nvPr/>
          </p:nvSpPr>
          <p:spPr>
            <a:xfrm flipH="false" flipV="false" rot="0">
              <a:off x="0" y="0"/>
              <a:ext cx="812800" cy="1145099"/>
            </a:xfrm>
            <a:custGeom>
              <a:avLst/>
              <a:gdLst/>
              <a:ahLst/>
              <a:cxnLst/>
              <a:rect r="r" b="b" t="t" l="l"/>
              <a:pathLst>
                <a:path h="1145099" w="812800">
                  <a:moveTo>
                    <a:pt x="33940" y="0"/>
                  </a:moveTo>
                  <a:lnTo>
                    <a:pt x="778860" y="0"/>
                  </a:lnTo>
                  <a:cubicBezTo>
                    <a:pt x="797604" y="0"/>
                    <a:pt x="812800" y="15196"/>
                    <a:pt x="812800" y="33940"/>
                  </a:cubicBezTo>
                  <a:lnTo>
                    <a:pt x="812800" y="1111159"/>
                  </a:lnTo>
                  <a:cubicBezTo>
                    <a:pt x="812800" y="1129904"/>
                    <a:pt x="797604" y="1145099"/>
                    <a:pt x="778860" y="1145099"/>
                  </a:cubicBezTo>
                  <a:lnTo>
                    <a:pt x="33940" y="1145099"/>
                  </a:lnTo>
                  <a:cubicBezTo>
                    <a:pt x="24939" y="1145099"/>
                    <a:pt x="16306" y="1141523"/>
                    <a:pt x="9941" y="1135158"/>
                  </a:cubicBezTo>
                  <a:cubicBezTo>
                    <a:pt x="3576" y="1128793"/>
                    <a:pt x="0" y="1120160"/>
                    <a:pt x="0" y="1111159"/>
                  </a:cubicBezTo>
                  <a:lnTo>
                    <a:pt x="0" y="33940"/>
                  </a:lnTo>
                  <a:cubicBezTo>
                    <a:pt x="0" y="15196"/>
                    <a:pt x="15196" y="0"/>
                    <a:pt x="33940" y="0"/>
                  </a:cubicBezTo>
                  <a:close/>
                </a:path>
              </a:pathLst>
            </a:custGeom>
            <a:blipFill>
              <a:blip r:embed="rId3"/>
              <a:stretch>
                <a:fillRect l="-59716" t="-22302" r="-44988" b="-22999"/>
              </a:stretch>
            </a:blipFill>
          </p:spPr>
        </p:sp>
      </p:grpSp>
      <p:sp>
        <p:nvSpPr>
          <p:cNvPr name="TextBox 5" id="5"/>
          <p:cNvSpPr txBox="true"/>
          <p:nvPr/>
        </p:nvSpPr>
        <p:spPr>
          <a:xfrm rot="0">
            <a:off x="1028700" y="984124"/>
            <a:ext cx="14051867" cy="365377"/>
          </a:xfrm>
          <a:prstGeom prst="rect">
            <a:avLst/>
          </a:prstGeom>
        </p:spPr>
        <p:txBody>
          <a:bodyPr anchor="t" rtlCol="false" tIns="0" lIns="0" bIns="0" rIns="0">
            <a:spAutoFit/>
          </a:bodyPr>
          <a:lstStyle/>
          <a:p>
            <a:pPr algn="l">
              <a:lnSpc>
                <a:spcPts val="2108"/>
              </a:lnSpc>
            </a:pPr>
            <a:r>
              <a:rPr lang="en-US" sz="4217" b="true">
                <a:solidFill>
                  <a:srgbClr val="C8360D"/>
                </a:solidFill>
                <a:latin typeface="Playfair Display Bold"/>
                <a:ea typeface="Playfair Display Bold"/>
                <a:cs typeface="Playfair Display Bold"/>
                <a:sym typeface="Playfair Display Bold"/>
              </a:rPr>
              <a:t>Identify the highest-priced pizza</a:t>
            </a:r>
          </a:p>
        </p:txBody>
      </p:sp>
      <p:sp>
        <p:nvSpPr>
          <p:cNvPr name="Freeform 6" id="6"/>
          <p:cNvSpPr/>
          <p:nvPr/>
        </p:nvSpPr>
        <p:spPr>
          <a:xfrm flipH="false" flipV="false" rot="0">
            <a:off x="1028700" y="2596851"/>
            <a:ext cx="10469936" cy="3819105"/>
          </a:xfrm>
          <a:custGeom>
            <a:avLst/>
            <a:gdLst/>
            <a:ahLst/>
            <a:cxnLst/>
            <a:rect r="r" b="b" t="t" l="l"/>
            <a:pathLst>
              <a:path h="3819105" w="10469936">
                <a:moveTo>
                  <a:pt x="0" y="0"/>
                </a:moveTo>
                <a:lnTo>
                  <a:pt x="10469936" y="0"/>
                </a:lnTo>
                <a:lnTo>
                  <a:pt x="10469936" y="3819105"/>
                </a:lnTo>
                <a:lnTo>
                  <a:pt x="0" y="3819105"/>
                </a:lnTo>
                <a:lnTo>
                  <a:pt x="0" y="0"/>
                </a:lnTo>
                <a:close/>
              </a:path>
            </a:pathLst>
          </a:custGeom>
          <a:blipFill>
            <a:blip r:embed="rId4"/>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13527407" y="1028700"/>
            <a:ext cx="5246370" cy="7391257"/>
            <a:chOff x="0" y="0"/>
            <a:chExt cx="812800" cy="1145099"/>
          </a:xfrm>
        </p:grpSpPr>
        <p:sp>
          <p:nvSpPr>
            <p:cNvPr name="Freeform 4" id="4"/>
            <p:cNvSpPr/>
            <p:nvPr/>
          </p:nvSpPr>
          <p:spPr>
            <a:xfrm flipH="false" flipV="false" rot="0">
              <a:off x="0" y="0"/>
              <a:ext cx="812800" cy="1145099"/>
            </a:xfrm>
            <a:custGeom>
              <a:avLst/>
              <a:gdLst/>
              <a:ahLst/>
              <a:cxnLst/>
              <a:rect r="r" b="b" t="t" l="l"/>
              <a:pathLst>
                <a:path h="1145099" w="812800">
                  <a:moveTo>
                    <a:pt x="33940" y="0"/>
                  </a:moveTo>
                  <a:lnTo>
                    <a:pt x="778860" y="0"/>
                  </a:lnTo>
                  <a:cubicBezTo>
                    <a:pt x="797604" y="0"/>
                    <a:pt x="812800" y="15196"/>
                    <a:pt x="812800" y="33940"/>
                  </a:cubicBezTo>
                  <a:lnTo>
                    <a:pt x="812800" y="1111159"/>
                  </a:lnTo>
                  <a:cubicBezTo>
                    <a:pt x="812800" y="1129904"/>
                    <a:pt x="797604" y="1145099"/>
                    <a:pt x="778860" y="1145099"/>
                  </a:cubicBezTo>
                  <a:lnTo>
                    <a:pt x="33940" y="1145099"/>
                  </a:lnTo>
                  <a:cubicBezTo>
                    <a:pt x="24939" y="1145099"/>
                    <a:pt x="16306" y="1141523"/>
                    <a:pt x="9941" y="1135158"/>
                  </a:cubicBezTo>
                  <a:cubicBezTo>
                    <a:pt x="3576" y="1128793"/>
                    <a:pt x="0" y="1120160"/>
                    <a:pt x="0" y="1111159"/>
                  </a:cubicBezTo>
                  <a:lnTo>
                    <a:pt x="0" y="33940"/>
                  </a:lnTo>
                  <a:cubicBezTo>
                    <a:pt x="0" y="15196"/>
                    <a:pt x="15196" y="0"/>
                    <a:pt x="33940" y="0"/>
                  </a:cubicBezTo>
                  <a:close/>
                </a:path>
              </a:pathLst>
            </a:custGeom>
            <a:blipFill>
              <a:blip r:embed="rId3"/>
              <a:stretch>
                <a:fillRect l="-59716" t="-22302" r="-44988" b="-22999"/>
              </a:stretch>
            </a:blipFill>
          </p:spPr>
        </p:sp>
      </p:grpSp>
      <p:sp>
        <p:nvSpPr>
          <p:cNvPr name="TextBox 5" id="5"/>
          <p:cNvSpPr txBox="true"/>
          <p:nvPr/>
        </p:nvSpPr>
        <p:spPr>
          <a:xfrm rot="0">
            <a:off x="568366" y="984124"/>
            <a:ext cx="14051867" cy="365377"/>
          </a:xfrm>
          <a:prstGeom prst="rect">
            <a:avLst/>
          </a:prstGeom>
        </p:spPr>
        <p:txBody>
          <a:bodyPr anchor="t" rtlCol="false" tIns="0" lIns="0" bIns="0" rIns="0">
            <a:spAutoFit/>
          </a:bodyPr>
          <a:lstStyle/>
          <a:p>
            <a:pPr algn="l">
              <a:lnSpc>
                <a:spcPts val="2108"/>
              </a:lnSpc>
            </a:pPr>
            <a:r>
              <a:rPr lang="en-US" sz="4217" b="true">
                <a:solidFill>
                  <a:srgbClr val="C8360D"/>
                </a:solidFill>
                <a:latin typeface="Playfair Display Bold"/>
                <a:ea typeface="Playfair Display Bold"/>
                <a:cs typeface="Playfair Display Bold"/>
                <a:sym typeface="Playfair Display Bold"/>
              </a:rPr>
              <a:t>Identify the most common pizza size ordered</a:t>
            </a:r>
          </a:p>
        </p:txBody>
      </p:sp>
      <p:sp>
        <p:nvSpPr>
          <p:cNvPr name="Freeform 6" id="6"/>
          <p:cNvSpPr/>
          <p:nvPr/>
        </p:nvSpPr>
        <p:spPr>
          <a:xfrm flipH="false" flipV="false" rot="0">
            <a:off x="1337003" y="2739262"/>
            <a:ext cx="10442767" cy="3970133"/>
          </a:xfrm>
          <a:custGeom>
            <a:avLst/>
            <a:gdLst/>
            <a:ahLst/>
            <a:cxnLst/>
            <a:rect r="r" b="b" t="t" l="l"/>
            <a:pathLst>
              <a:path h="3970133" w="10442767">
                <a:moveTo>
                  <a:pt x="0" y="0"/>
                </a:moveTo>
                <a:lnTo>
                  <a:pt x="10442768" y="0"/>
                </a:lnTo>
                <a:lnTo>
                  <a:pt x="10442768" y="3970133"/>
                </a:lnTo>
                <a:lnTo>
                  <a:pt x="0" y="3970133"/>
                </a:lnTo>
                <a:lnTo>
                  <a:pt x="0" y="0"/>
                </a:lnTo>
                <a:close/>
              </a:path>
            </a:pathLst>
          </a:custGeom>
          <a:blipFill>
            <a:blip r:embed="rId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13418712" y="2371782"/>
            <a:ext cx="5246370" cy="7391257"/>
            <a:chOff x="0" y="0"/>
            <a:chExt cx="812800" cy="1145099"/>
          </a:xfrm>
        </p:grpSpPr>
        <p:sp>
          <p:nvSpPr>
            <p:cNvPr name="Freeform 4" id="4"/>
            <p:cNvSpPr/>
            <p:nvPr/>
          </p:nvSpPr>
          <p:spPr>
            <a:xfrm flipH="false" flipV="false" rot="0">
              <a:off x="0" y="0"/>
              <a:ext cx="812800" cy="1145099"/>
            </a:xfrm>
            <a:custGeom>
              <a:avLst/>
              <a:gdLst/>
              <a:ahLst/>
              <a:cxnLst/>
              <a:rect r="r" b="b" t="t" l="l"/>
              <a:pathLst>
                <a:path h="1145099" w="812800">
                  <a:moveTo>
                    <a:pt x="33940" y="0"/>
                  </a:moveTo>
                  <a:lnTo>
                    <a:pt x="778860" y="0"/>
                  </a:lnTo>
                  <a:cubicBezTo>
                    <a:pt x="797604" y="0"/>
                    <a:pt x="812800" y="15196"/>
                    <a:pt x="812800" y="33940"/>
                  </a:cubicBezTo>
                  <a:lnTo>
                    <a:pt x="812800" y="1111159"/>
                  </a:lnTo>
                  <a:cubicBezTo>
                    <a:pt x="812800" y="1129904"/>
                    <a:pt x="797604" y="1145099"/>
                    <a:pt x="778860" y="1145099"/>
                  </a:cubicBezTo>
                  <a:lnTo>
                    <a:pt x="33940" y="1145099"/>
                  </a:lnTo>
                  <a:cubicBezTo>
                    <a:pt x="24939" y="1145099"/>
                    <a:pt x="16306" y="1141523"/>
                    <a:pt x="9941" y="1135158"/>
                  </a:cubicBezTo>
                  <a:cubicBezTo>
                    <a:pt x="3576" y="1128793"/>
                    <a:pt x="0" y="1120160"/>
                    <a:pt x="0" y="1111159"/>
                  </a:cubicBezTo>
                  <a:lnTo>
                    <a:pt x="0" y="33940"/>
                  </a:lnTo>
                  <a:cubicBezTo>
                    <a:pt x="0" y="15196"/>
                    <a:pt x="15196" y="0"/>
                    <a:pt x="33940" y="0"/>
                  </a:cubicBezTo>
                  <a:close/>
                </a:path>
              </a:pathLst>
            </a:custGeom>
            <a:blipFill>
              <a:blip r:embed="rId3"/>
              <a:stretch>
                <a:fillRect l="-59716" t="-22302" r="-44988" b="-22999"/>
              </a:stretch>
            </a:blipFill>
          </p:spPr>
        </p:sp>
      </p:grpSp>
      <p:sp>
        <p:nvSpPr>
          <p:cNvPr name="Freeform 5" id="5"/>
          <p:cNvSpPr/>
          <p:nvPr/>
        </p:nvSpPr>
        <p:spPr>
          <a:xfrm flipH="false" flipV="false" rot="0">
            <a:off x="1028700" y="3024632"/>
            <a:ext cx="10618266" cy="5052952"/>
          </a:xfrm>
          <a:custGeom>
            <a:avLst/>
            <a:gdLst/>
            <a:ahLst/>
            <a:cxnLst/>
            <a:rect r="r" b="b" t="t" l="l"/>
            <a:pathLst>
              <a:path h="5052952" w="10618266">
                <a:moveTo>
                  <a:pt x="0" y="0"/>
                </a:moveTo>
                <a:lnTo>
                  <a:pt x="10618266" y="0"/>
                </a:lnTo>
                <a:lnTo>
                  <a:pt x="10618266" y="5052952"/>
                </a:lnTo>
                <a:lnTo>
                  <a:pt x="0" y="5052952"/>
                </a:lnTo>
                <a:lnTo>
                  <a:pt x="0" y="0"/>
                </a:lnTo>
                <a:close/>
              </a:path>
            </a:pathLst>
          </a:custGeom>
          <a:blipFill>
            <a:blip r:embed="rId4"/>
            <a:stretch>
              <a:fillRect l="0" t="0" r="0" b="0"/>
            </a:stretch>
          </a:blipFill>
        </p:spPr>
      </p:sp>
      <p:sp>
        <p:nvSpPr>
          <p:cNvPr name="TextBox 6" id="6"/>
          <p:cNvSpPr txBox="true"/>
          <p:nvPr/>
        </p:nvSpPr>
        <p:spPr>
          <a:xfrm rot="0">
            <a:off x="407608" y="984124"/>
            <a:ext cx="16851692" cy="365377"/>
          </a:xfrm>
          <a:prstGeom prst="rect">
            <a:avLst/>
          </a:prstGeom>
        </p:spPr>
        <p:txBody>
          <a:bodyPr anchor="t" rtlCol="false" tIns="0" lIns="0" bIns="0" rIns="0">
            <a:spAutoFit/>
          </a:bodyPr>
          <a:lstStyle/>
          <a:p>
            <a:pPr algn="l">
              <a:lnSpc>
                <a:spcPts val="2108"/>
              </a:lnSpc>
            </a:pPr>
            <a:r>
              <a:rPr lang="en-US" sz="4217" b="true">
                <a:solidFill>
                  <a:srgbClr val="C8360D"/>
                </a:solidFill>
                <a:latin typeface="Playfair Display Bold"/>
                <a:ea typeface="Playfair Display Bold"/>
                <a:cs typeface="Playfair Display Bold"/>
                <a:sym typeface="Playfair Display Bold"/>
              </a:rPr>
              <a:t>List the top 5 most ordered pizza types along with their quantities.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13041630" y="2895743"/>
            <a:ext cx="5246370" cy="7391257"/>
            <a:chOff x="0" y="0"/>
            <a:chExt cx="812800" cy="1145099"/>
          </a:xfrm>
        </p:grpSpPr>
        <p:sp>
          <p:nvSpPr>
            <p:cNvPr name="Freeform 4" id="4"/>
            <p:cNvSpPr/>
            <p:nvPr/>
          </p:nvSpPr>
          <p:spPr>
            <a:xfrm flipH="false" flipV="false" rot="0">
              <a:off x="0" y="0"/>
              <a:ext cx="812800" cy="1145099"/>
            </a:xfrm>
            <a:custGeom>
              <a:avLst/>
              <a:gdLst/>
              <a:ahLst/>
              <a:cxnLst/>
              <a:rect r="r" b="b" t="t" l="l"/>
              <a:pathLst>
                <a:path h="1145099" w="812800">
                  <a:moveTo>
                    <a:pt x="33940" y="0"/>
                  </a:moveTo>
                  <a:lnTo>
                    <a:pt x="778860" y="0"/>
                  </a:lnTo>
                  <a:cubicBezTo>
                    <a:pt x="797604" y="0"/>
                    <a:pt x="812800" y="15196"/>
                    <a:pt x="812800" y="33940"/>
                  </a:cubicBezTo>
                  <a:lnTo>
                    <a:pt x="812800" y="1111159"/>
                  </a:lnTo>
                  <a:cubicBezTo>
                    <a:pt x="812800" y="1129904"/>
                    <a:pt x="797604" y="1145099"/>
                    <a:pt x="778860" y="1145099"/>
                  </a:cubicBezTo>
                  <a:lnTo>
                    <a:pt x="33940" y="1145099"/>
                  </a:lnTo>
                  <a:cubicBezTo>
                    <a:pt x="24939" y="1145099"/>
                    <a:pt x="16306" y="1141523"/>
                    <a:pt x="9941" y="1135158"/>
                  </a:cubicBezTo>
                  <a:cubicBezTo>
                    <a:pt x="3576" y="1128793"/>
                    <a:pt x="0" y="1120160"/>
                    <a:pt x="0" y="1111159"/>
                  </a:cubicBezTo>
                  <a:lnTo>
                    <a:pt x="0" y="33940"/>
                  </a:lnTo>
                  <a:cubicBezTo>
                    <a:pt x="0" y="15196"/>
                    <a:pt x="15196" y="0"/>
                    <a:pt x="33940" y="0"/>
                  </a:cubicBezTo>
                  <a:close/>
                </a:path>
              </a:pathLst>
            </a:custGeom>
            <a:blipFill>
              <a:blip r:embed="rId3"/>
              <a:stretch>
                <a:fillRect l="-59716" t="-22302" r="-44988" b="-22999"/>
              </a:stretch>
            </a:blipFill>
          </p:spPr>
        </p:sp>
      </p:grpSp>
      <p:sp>
        <p:nvSpPr>
          <p:cNvPr name="Freeform 5" id="5"/>
          <p:cNvSpPr/>
          <p:nvPr/>
        </p:nvSpPr>
        <p:spPr>
          <a:xfrm flipH="false" flipV="false" rot="0">
            <a:off x="1603336" y="2585294"/>
            <a:ext cx="10516121" cy="5551193"/>
          </a:xfrm>
          <a:custGeom>
            <a:avLst/>
            <a:gdLst/>
            <a:ahLst/>
            <a:cxnLst/>
            <a:rect r="r" b="b" t="t" l="l"/>
            <a:pathLst>
              <a:path h="5551193" w="10516121">
                <a:moveTo>
                  <a:pt x="0" y="0"/>
                </a:moveTo>
                <a:lnTo>
                  <a:pt x="10516121" y="0"/>
                </a:lnTo>
                <a:lnTo>
                  <a:pt x="10516121" y="5551193"/>
                </a:lnTo>
                <a:lnTo>
                  <a:pt x="0" y="5551193"/>
                </a:lnTo>
                <a:lnTo>
                  <a:pt x="0" y="0"/>
                </a:lnTo>
                <a:close/>
              </a:path>
            </a:pathLst>
          </a:custGeom>
          <a:blipFill>
            <a:blip r:embed="rId4"/>
            <a:stretch>
              <a:fillRect l="0" t="0" r="0" b="0"/>
            </a:stretch>
          </a:blipFill>
        </p:spPr>
      </p:sp>
      <p:sp>
        <p:nvSpPr>
          <p:cNvPr name="TextBox 6" id="6"/>
          <p:cNvSpPr txBox="true"/>
          <p:nvPr/>
        </p:nvSpPr>
        <p:spPr>
          <a:xfrm rot="0">
            <a:off x="169025" y="787858"/>
            <a:ext cx="17949950" cy="300511"/>
          </a:xfrm>
          <a:prstGeom prst="rect">
            <a:avLst/>
          </a:prstGeom>
        </p:spPr>
        <p:txBody>
          <a:bodyPr anchor="t" rtlCol="false" tIns="0" lIns="0" bIns="0" rIns="0">
            <a:spAutoFit/>
          </a:bodyPr>
          <a:lstStyle/>
          <a:p>
            <a:pPr algn="l">
              <a:lnSpc>
                <a:spcPts val="1850"/>
              </a:lnSpc>
            </a:pPr>
            <a:r>
              <a:rPr lang="en-US" sz="3701" b="true">
                <a:solidFill>
                  <a:srgbClr val="C8360D"/>
                </a:solidFill>
                <a:latin typeface="Playfair Display Bold"/>
                <a:ea typeface="Playfair Display Bold"/>
                <a:cs typeface="Playfair Display Bold"/>
                <a:sym typeface="Playfair Display Bold"/>
              </a:rPr>
              <a:t>Join the necessary tables to find the total quantity of each pizza category ordered.</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13041630" y="2596830"/>
            <a:ext cx="5246370" cy="7391257"/>
            <a:chOff x="0" y="0"/>
            <a:chExt cx="812800" cy="1145099"/>
          </a:xfrm>
        </p:grpSpPr>
        <p:sp>
          <p:nvSpPr>
            <p:cNvPr name="Freeform 4" id="4"/>
            <p:cNvSpPr/>
            <p:nvPr/>
          </p:nvSpPr>
          <p:spPr>
            <a:xfrm flipH="false" flipV="false" rot="0">
              <a:off x="0" y="0"/>
              <a:ext cx="812800" cy="1145099"/>
            </a:xfrm>
            <a:custGeom>
              <a:avLst/>
              <a:gdLst/>
              <a:ahLst/>
              <a:cxnLst/>
              <a:rect r="r" b="b" t="t" l="l"/>
              <a:pathLst>
                <a:path h="1145099" w="812800">
                  <a:moveTo>
                    <a:pt x="33940" y="0"/>
                  </a:moveTo>
                  <a:lnTo>
                    <a:pt x="778860" y="0"/>
                  </a:lnTo>
                  <a:cubicBezTo>
                    <a:pt x="797604" y="0"/>
                    <a:pt x="812800" y="15196"/>
                    <a:pt x="812800" y="33940"/>
                  </a:cubicBezTo>
                  <a:lnTo>
                    <a:pt x="812800" y="1111159"/>
                  </a:lnTo>
                  <a:cubicBezTo>
                    <a:pt x="812800" y="1129904"/>
                    <a:pt x="797604" y="1145099"/>
                    <a:pt x="778860" y="1145099"/>
                  </a:cubicBezTo>
                  <a:lnTo>
                    <a:pt x="33940" y="1145099"/>
                  </a:lnTo>
                  <a:cubicBezTo>
                    <a:pt x="24939" y="1145099"/>
                    <a:pt x="16306" y="1141523"/>
                    <a:pt x="9941" y="1135158"/>
                  </a:cubicBezTo>
                  <a:cubicBezTo>
                    <a:pt x="3576" y="1128793"/>
                    <a:pt x="0" y="1120160"/>
                    <a:pt x="0" y="1111159"/>
                  </a:cubicBezTo>
                  <a:lnTo>
                    <a:pt x="0" y="33940"/>
                  </a:lnTo>
                  <a:cubicBezTo>
                    <a:pt x="0" y="15196"/>
                    <a:pt x="15196" y="0"/>
                    <a:pt x="33940" y="0"/>
                  </a:cubicBezTo>
                  <a:close/>
                </a:path>
              </a:pathLst>
            </a:custGeom>
            <a:blipFill>
              <a:blip r:embed="rId3"/>
              <a:stretch>
                <a:fillRect l="-59716" t="-22302" r="-44988" b="-22999"/>
              </a:stretch>
            </a:blipFill>
          </p:spPr>
        </p:sp>
      </p:grpSp>
      <p:sp>
        <p:nvSpPr>
          <p:cNvPr name="Freeform 5" id="5"/>
          <p:cNvSpPr/>
          <p:nvPr/>
        </p:nvSpPr>
        <p:spPr>
          <a:xfrm flipH="false" flipV="false" rot="0">
            <a:off x="1446107" y="3028270"/>
            <a:ext cx="10395798" cy="2871767"/>
          </a:xfrm>
          <a:custGeom>
            <a:avLst/>
            <a:gdLst/>
            <a:ahLst/>
            <a:cxnLst/>
            <a:rect r="r" b="b" t="t" l="l"/>
            <a:pathLst>
              <a:path h="2871767" w="10395798">
                <a:moveTo>
                  <a:pt x="0" y="0"/>
                </a:moveTo>
                <a:lnTo>
                  <a:pt x="10395798" y="0"/>
                </a:lnTo>
                <a:lnTo>
                  <a:pt x="10395798" y="2871768"/>
                </a:lnTo>
                <a:lnTo>
                  <a:pt x="0" y="2871768"/>
                </a:lnTo>
                <a:lnTo>
                  <a:pt x="0" y="0"/>
                </a:lnTo>
                <a:close/>
              </a:path>
            </a:pathLst>
          </a:custGeom>
          <a:blipFill>
            <a:blip r:embed="rId4"/>
            <a:stretch>
              <a:fillRect l="0" t="0" r="0" b="0"/>
            </a:stretch>
          </a:blipFill>
        </p:spPr>
      </p:sp>
      <p:sp>
        <p:nvSpPr>
          <p:cNvPr name="TextBox 6" id="6"/>
          <p:cNvSpPr txBox="true"/>
          <p:nvPr/>
        </p:nvSpPr>
        <p:spPr>
          <a:xfrm rot="0">
            <a:off x="801832" y="984124"/>
            <a:ext cx="14051867" cy="365377"/>
          </a:xfrm>
          <a:prstGeom prst="rect">
            <a:avLst/>
          </a:prstGeom>
        </p:spPr>
        <p:txBody>
          <a:bodyPr anchor="t" rtlCol="false" tIns="0" lIns="0" bIns="0" rIns="0">
            <a:spAutoFit/>
          </a:bodyPr>
          <a:lstStyle/>
          <a:p>
            <a:pPr algn="l">
              <a:lnSpc>
                <a:spcPts val="2108"/>
              </a:lnSpc>
            </a:pPr>
            <a:r>
              <a:rPr lang="en-US" sz="4217" b="true">
                <a:solidFill>
                  <a:srgbClr val="C8360D"/>
                </a:solidFill>
                <a:latin typeface="Playfair Display Bold"/>
                <a:ea typeface="Playfair Display Bold"/>
                <a:cs typeface="Playfair Display Bold"/>
                <a:sym typeface="Playfair Display Bold"/>
              </a:rPr>
              <a:t> Determine the distribution of orders by hour of the day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13041630" y="2895743"/>
            <a:ext cx="5246370" cy="7391257"/>
            <a:chOff x="0" y="0"/>
            <a:chExt cx="812800" cy="1145099"/>
          </a:xfrm>
        </p:grpSpPr>
        <p:sp>
          <p:nvSpPr>
            <p:cNvPr name="Freeform 4" id="4"/>
            <p:cNvSpPr/>
            <p:nvPr/>
          </p:nvSpPr>
          <p:spPr>
            <a:xfrm flipH="false" flipV="false" rot="0">
              <a:off x="0" y="0"/>
              <a:ext cx="812800" cy="1145099"/>
            </a:xfrm>
            <a:custGeom>
              <a:avLst/>
              <a:gdLst/>
              <a:ahLst/>
              <a:cxnLst/>
              <a:rect r="r" b="b" t="t" l="l"/>
              <a:pathLst>
                <a:path h="1145099" w="812800">
                  <a:moveTo>
                    <a:pt x="33940" y="0"/>
                  </a:moveTo>
                  <a:lnTo>
                    <a:pt x="778860" y="0"/>
                  </a:lnTo>
                  <a:cubicBezTo>
                    <a:pt x="797604" y="0"/>
                    <a:pt x="812800" y="15196"/>
                    <a:pt x="812800" y="33940"/>
                  </a:cubicBezTo>
                  <a:lnTo>
                    <a:pt x="812800" y="1111159"/>
                  </a:lnTo>
                  <a:cubicBezTo>
                    <a:pt x="812800" y="1129904"/>
                    <a:pt x="797604" y="1145099"/>
                    <a:pt x="778860" y="1145099"/>
                  </a:cubicBezTo>
                  <a:lnTo>
                    <a:pt x="33940" y="1145099"/>
                  </a:lnTo>
                  <a:cubicBezTo>
                    <a:pt x="24939" y="1145099"/>
                    <a:pt x="16306" y="1141523"/>
                    <a:pt x="9941" y="1135158"/>
                  </a:cubicBezTo>
                  <a:cubicBezTo>
                    <a:pt x="3576" y="1128793"/>
                    <a:pt x="0" y="1120160"/>
                    <a:pt x="0" y="1111159"/>
                  </a:cubicBezTo>
                  <a:lnTo>
                    <a:pt x="0" y="33940"/>
                  </a:lnTo>
                  <a:cubicBezTo>
                    <a:pt x="0" y="15196"/>
                    <a:pt x="15196" y="0"/>
                    <a:pt x="33940" y="0"/>
                  </a:cubicBezTo>
                  <a:close/>
                </a:path>
              </a:pathLst>
            </a:custGeom>
            <a:blipFill>
              <a:blip r:embed="rId3"/>
              <a:stretch>
                <a:fillRect l="-59716" t="-22302" r="-44988" b="-22999"/>
              </a:stretch>
            </a:blipFill>
          </p:spPr>
        </p:sp>
      </p:grpSp>
      <p:sp>
        <p:nvSpPr>
          <p:cNvPr name="Freeform 5" id="5"/>
          <p:cNvSpPr/>
          <p:nvPr/>
        </p:nvSpPr>
        <p:spPr>
          <a:xfrm flipH="false" flipV="false" rot="0">
            <a:off x="1759992" y="3541253"/>
            <a:ext cx="10202810" cy="1030587"/>
          </a:xfrm>
          <a:custGeom>
            <a:avLst/>
            <a:gdLst/>
            <a:ahLst/>
            <a:cxnLst/>
            <a:rect r="r" b="b" t="t" l="l"/>
            <a:pathLst>
              <a:path h="1030587" w="10202810">
                <a:moveTo>
                  <a:pt x="0" y="0"/>
                </a:moveTo>
                <a:lnTo>
                  <a:pt x="10202810" y="0"/>
                </a:lnTo>
                <a:lnTo>
                  <a:pt x="10202810" y="1030587"/>
                </a:lnTo>
                <a:lnTo>
                  <a:pt x="0" y="1030587"/>
                </a:lnTo>
                <a:lnTo>
                  <a:pt x="0" y="0"/>
                </a:lnTo>
                <a:close/>
              </a:path>
            </a:pathLst>
          </a:custGeom>
          <a:blipFill>
            <a:blip r:embed="rId4"/>
            <a:stretch>
              <a:fillRect l="0" t="0" r="0" b="0"/>
            </a:stretch>
          </a:blipFill>
        </p:spPr>
      </p:sp>
      <p:sp>
        <p:nvSpPr>
          <p:cNvPr name="TextBox 6" id="6"/>
          <p:cNvSpPr txBox="true"/>
          <p:nvPr/>
        </p:nvSpPr>
        <p:spPr>
          <a:xfrm rot="0">
            <a:off x="801832" y="984124"/>
            <a:ext cx="16742078" cy="365377"/>
          </a:xfrm>
          <a:prstGeom prst="rect">
            <a:avLst/>
          </a:prstGeom>
        </p:spPr>
        <p:txBody>
          <a:bodyPr anchor="t" rtlCol="false" tIns="0" lIns="0" bIns="0" rIns="0">
            <a:spAutoFit/>
          </a:bodyPr>
          <a:lstStyle/>
          <a:p>
            <a:pPr algn="l">
              <a:lnSpc>
                <a:spcPts val="2108"/>
              </a:lnSpc>
            </a:pPr>
            <a:r>
              <a:rPr lang="en-US" sz="4217" b="true">
                <a:solidFill>
                  <a:srgbClr val="C8360D"/>
                </a:solidFill>
                <a:latin typeface="Playfair Display Bold"/>
                <a:ea typeface="Playfair Display Bold"/>
                <a:cs typeface="Playfair Display Bold"/>
                <a:sym typeface="Playfair Display Bold"/>
              </a:rPr>
              <a:t>Join relevant tables to find the category-wise distribution of pizzas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13041630" y="2596830"/>
            <a:ext cx="5246370" cy="7391257"/>
            <a:chOff x="0" y="0"/>
            <a:chExt cx="812800" cy="1145099"/>
          </a:xfrm>
        </p:grpSpPr>
        <p:sp>
          <p:nvSpPr>
            <p:cNvPr name="Freeform 4" id="4"/>
            <p:cNvSpPr/>
            <p:nvPr/>
          </p:nvSpPr>
          <p:spPr>
            <a:xfrm flipH="false" flipV="false" rot="0">
              <a:off x="0" y="0"/>
              <a:ext cx="812800" cy="1145099"/>
            </a:xfrm>
            <a:custGeom>
              <a:avLst/>
              <a:gdLst/>
              <a:ahLst/>
              <a:cxnLst/>
              <a:rect r="r" b="b" t="t" l="l"/>
              <a:pathLst>
                <a:path h="1145099" w="812800">
                  <a:moveTo>
                    <a:pt x="33940" y="0"/>
                  </a:moveTo>
                  <a:lnTo>
                    <a:pt x="778860" y="0"/>
                  </a:lnTo>
                  <a:cubicBezTo>
                    <a:pt x="797604" y="0"/>
                    <a:pt x="812800" y="15196"/>
                    <a:pt x="812800" y="33940"/>
                  </a:cubicBezTo>
                  <a:lnTo>
                    <a:pt x="812800" y="1111159"/>
                  </a:lnTo>
                  <a:cubicBezTo>
                    <a:pt x="812800" y="1129904"/>
                    <a:pt x="797604" y="1145099"/>
                    <a:pt x="778860" y="1145099"/>
                  </a:cubicBezTo>
                  <a:lnTo>
                    <a:pt x="33940" y="1145099"/>
                  </a:lnTo>
                  <a:cubicBezTo>
                    <a:pt x="24939" y="1145099"/>
                    <a:pt x="16306" y="1141523"/>
                    <a:pt x="9941" y="1135158"/>
                  </a:cubicBezTo>
                  <a:cubicBezTo>
                    <a:pt x="3576" y="1128793"/>
                    <a:pt x="0" y="1120160"/>
                    <a:pt x="0" y="1111159"/>
                  </a:cubicBezTo>
                  <a:lnTo>
                    <a:pt x="0" y="33940"/>
                  </a:lnTo>
                  <a:cubicBezTo>
                    <a:pt x="0" y="15196"/>
                    <a:pt x="15196" y="0"/>
                    <a:pt x="33940" y="0"/>
                  </a:cubicBezTo>
                  <a:close/>
                </a:path>
              </a:pathLst>
            </a:custGeom>
            <a:blipFill>
              <a:blip r:embed="rId3"/>
              <a:stretch>
                <a:fillRect l="-59716" t="-22302" r="-44988" b="-22999"/>
              </a:stretch>
            </a:blipFill>
          </p:spPr>
        </p:sp>
      </p:grpSp>
      <p:sp>
        <p:nvSpPr>
          <p:cNvPr name="Freeform 5" id="5"/>
          <p:cNvSpPr/>
          <p:nvPr/>
        </p:nvSpPr>
        <p:spPr>
          <a:xfrm flipH="false" flipV="false" rot="0">
            <a:off x="1321727" y="2596830"/>
            <a:ext cx="10427166" cy="5260893"/>
          </a:xfrm>
          <a:custGeom>
            <a:avLst/>
            <a:gdLst/>
            <a:ahLst/>
            <a:cxnLst/>
            <a:rect r="r" b="b" t="t" l="l"/>
            <a:pathLst>
              <a:path h="5260893" w="10427166">
                <a:moveTo>
                  <a:pt x="0" y="0"/>
                </a:moveTo>
                <a:lnTo>
                  <a:pt x="10427167" y="0"/>
                </a:lnTo>
                <a:lnTo>
                  <a:pt x="10427167" y="5260894"/>
                </a:lnTo>
                <a:lnTo>
                  <a:pt x="0" y="5260894"/>
                </a:lnTo>
                <a:lnTo>
                  <a:pt x="0" y="0"/>
                </a:lnTo>
                <a:close/>
              </a:path>
            </a:pathLst>
          </a:custGeom>
          <a:blipFill>
            <a:blip r:embed="rId4"/>
            <a:stretch>
              <a:fillRect l="0" t="0" r="0" b="0"/>
            </a:stretch>
          </a:blipFill>
        </p:spPr>
      </p:sp>
      <p:sp>
        <p:nvSpPr>
          <p:cNvPr name="TextBox 6" id="6"/>
          <p:cNvSpPr txBox="true"/>
          <p:nvPr/>
        </p:nvSpPr>
        <p:spPr>
          <a:xfrm rot="0">
            <a:off x="0" y="854584"/>
            <a:ext cx="18288000" cy="595883"/>
          </a:xfrm>
          <a:prstGeom prst="rect">
            <a:avLst/>
          </a:prstGeom>
        </p:spPr>
        <p:txBody>
          <a:bodyPr anchor="t" rtlCol="false" tIns="0" lIns="0" bIns="0" rIns="0">
            <a:spAutoFit/>
          </a:bodyPr>
          <a:lstStyle/>
          <a:p>
            <a:pPr algn="l">
              <a:lnSpc>
                <a:spcPts val="1808"/>
              </a:lnSpc>
            </a:pPr>
            <a:r>
              <a:rPr lang="en-US" sz="3617" b="true">
                <a:solidFill>
                  <a:srgbClr val="C8360D"/>
                </a:solidFill>
                <a:latin typeface="Playfair Display Bold"/>
                <a:ea typeface="Playfair Display Bold"/>
                <a:cs typeface="Playfair Display Bold"/>
                <a:sym typeface="Playfair Display Bold"/>
              </a:rPr>
              <a:t>Group the orders by date and calculate the average number of pizzas ordered per day</a:t>
            </a:r>
          </a:p>
          <a:p>
            <a:pPr algn="l">
              <a:lnSpc>
                <a:spcPts val="2108"/>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13041630" y="2596830"/>
            <a:ext cx="5246370" cy="7391257"/>
            <a:chOff x="0" y="0"/>
            <a:chExt cx="812800" cy="1145099"/>
          </a:xfrm>
        </p:grpSpPr>
        <p:sp>
          <p:nvSpPr>
            <p:cNvPr name="Freeform 4" id="4"/>
            <p:cNvSpPr/>
            <p:nvPr/>
          </p:nvSpPr>
          <p:spPr>
            <a:xfrm flipH="false" flipV="false" rot="0">
              <a:off x="0" y="0"/>
              <a:ext cx="812800" cy="1145099"/>
            </a:xfrm>
            <a:custGeom>
              <a:avLst/>
              <a:gdLst/>
              <a:ahLst/>
              <a:cxnLst/>
              <a:rect r="r" b="b" t="t" l="l"/>
              <a:pathLst>
                <a:path h="1145099" w="812800">
                  <a:moveTo>
                    <a:pt x="33940" y="0"/>
                  </a:moveTo>
                  <a:lnTo>
                    <a:pt x="778860" y="0"/>
                  </a:lnTo>
                  <a:cubicBezTo>
                    <a:pt x="797604" y="0"/>
                    <a:pt x="812800" y="15196"/>
                    <a:pt x="812800" y="33940"/>
                  </a:cubicBezTo>
                  <a:lnTo>
                    <a:pt x="812800" y="1111159"/>
                  </a:lnTo>
                  <a:cubicBezTo>
                    <a:pt x="812800" y="1129904"/>
                    <a:pt x="797604" y="1145099"/>
                    <a:pt x="778860" y="1145099"/>
                  </a:cubicBezTo>
                  <a:lnTo>
                    <a:pt x="33940" y="1145099"/>
                  </a:lnTo>
                  <a:cubicBezTo>
                    <a:pt x="24939" y="1145099"/>
                    <a:pt x="16306" y="1141523"/>
                    <a:pt x="9941" y="1135158"/>
                  </a:cubicBezTo>
                  <a:cubicBezTo>
                    <a:pt x="3576" y="1128793"/>
                    <a:pt x="0" y="1120160"/>
                    <a:pt x="0" y="1111159"/>
                  </a:cubicBezTo>
                  <a:lnTo>
                    <a:pt x="0" y="33940"/>
                  </a:lnTo>
                  <a:cubicBezTo>
                    <a:pt x="0" y="15196"/>
                    <a:pt x="15196" y="0"/>
                    <a:pt x="33940" y="0"/>
                  </a:cubicBezTo>
                  <a:close/>
                </a:path>
              </a:pathLst>
            </a:custGeom>
            <a:blipFill>
              <a:blip r:embed="rId3"/>
              <a:stretch>
                <a:fillRect l="-59716" t="-22302" r="-44988" b="-22999"/>
              </a:stretch>
            </a:blipFill>
          </p:spPr>
        </p:sp>
      </p:grpSp>
      <p:sp>
        <p:nvSpPr>
          <p:cNvPr name="Freeform 5" id="5"/>
          <p:cNvSpPr/>
          <p:nvPr/>
        </p:nvSpPr>
        <p:spPr>
          <a:xfrm flipH="false" flipV="false" rot="0">
            <a:off x="204007" y="2943719"/>
            <a:ext cx="12239798" cy="2580215"/>
          </a:xfrm>
          <a:custGeom>
            <a:avLst/>
            <a:gdLst/>
            <a:ahLst/>
            <a:cxnLst/>
            <a:rect r="r" b="b" t="t" l="l"/>
            <a:pathLst>
              <a:path h="2580215" w="12239798">
                <a:moveTo>
                  <a:pt x="0" y="0"/>
                </a:moveTo>
                <a:lnTo>
                  <a:pt x="12239798" y="0"/>
                </a:lnTo>
                <a:lnTo>
                  <a:pt x="12239798" y="2580215"/>
                </a:lnTo>
                <a:lnTo>
                  <a:pt x="0" y="2580215"/>
                </a:lnTo>
                <a:lnTo>
                  <a:pt x="0" y="0"/>
                </a:lnTo>
                <a:close/>
              </a:path>
            </a:pathLst>
          </a:custGeom>
          <a:blipFill>
            <a:blip r:embed="rId4"/>
            <a:stretch>
              <a:fillRect l="-130" t="0" r="-130" b="0"/>
            </a:stretch>
          </a:blipFill>
        </p:spPr>
      </p:sp>
      <p:sp>
        <p:nvSpPr>
          <p:cNvPr name="TextBox 6" id="6"/>
          <p:cNvSpPr txBox="true"/>
          <p:nvPr/>
        </p:nvSpPr>
        <p:spPr>
          <a:xfrm rot="0">
            <a:off x="801832" y="984124"/>
            <a:ext cx="16457468" cy="365377"/>
          </a:xfrm>
          <a:prstGeom prst="rect">
            <a:avLst/>
          </a:prstGeom>
        </p:spPr>
        <p:txBody>
          <a:bodyPr anchor="t" rtlCol="false" tIns="0" lIns="0" bIns="0" rIns="0">
            <a:spAutoFit/>
          </a:bodyPr>
          <a:lstStyle/>
          <a:p>
            <a:pPr algn="l">
              <a:lnSpc>
                <a:spcPts val="2108"/>
              </a:lnSpc>
            </a:pPr>
            <a:r>
              <a:rPr lang="en-US" sz="4217" b="true">
                <a:solidFill>
                  <a:srgbClr val="C8360D"/>
                </a:solidFill>
                <a:latin typeface="Playfair Display Bold"/>
                <a:ea typeface="Playfair Display Bold"/>
                <a:cs typeface="Playfair Display Bold"/>
                <a:sym typeface="Playfair Display Bold"/>
              </a:rPr>
              <a:t> Determine the top 3 most ordered pizza types based on revenue.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sp>
        <p:nvSpPr>
          <p:cNvPr name="Freeform 3" id="3"/>
          <p:cNvSpPr/>
          <p:nvPr/>
        </p:nvSpPr>
        <p:spPr>
          <a:xfrm flipH="false" flipV="false" rot="0">
            <a:off x="350860" y="2532576"/>
            <a:ext cx="17586281" cy="3846999"/>
          </a:xfrm>
          <a:custGeom>
            <a:avLst/>
            <a:gdLst/>
            <a:ahLst/>
            <a:cxnLst/>
            <a:rect r="r" b="b" t="t" l="l"/>
            <a:pathLst>
              <a:path h="3846999" w="17586281">
                <a:moveTo>
                  <a:pt x="0" y="0"/>
                </a:moveTo>
                <a:lnTo>
                  <a:pt x="17586280" y="0"/>
                </a:lnTo>
                <a:lnTo>
                  <a:pt x="17586280" y="3846999"/>
                </a:lnTo>
                <a:lnTo>
                  <a:pt x="0" y="3846999"/>
                </a:lnTo>
                <a:lnTo>
                  <a:pt x="0" y="0"/>
                </a:lnTo>
                <a:close/>
              </a:path>
            </a:pathLst>
          </a:custGeom>
          <a:blipFill>
            <a:blip r:embed="rId3"/>
            <a:stretch>
              <a:fillRect l="0" t="0" r="0" b="0"/>
            </a:stretch>
          </a:blipFill>
        </p:spPr>
      </p:sp>
      <p:sp>
        <p:nvSpPr>
          <p:cNvPr name="TextBox 4" id="4"/>
          <p:cNvSpPr txBox="true"/>
          <p:nvPr/>
        </p:nvSpPr>
        <p:spPr>
          <a:xfrm rot="0">
            <a:off x="237873" y="663323"/>
            <a:ext cx="17812254" cy="365377"/>
          </a:xfrm>
          <a:prstGeom prst="rect">
            <a:avLst/>
          </a:prstGeom>
        </p:spPr>
        <p:txBody>
          <a:bodyPr anchor="t" rtlCol="false" tIns="0" lIns="0" bIns="0" rIns="0">
            <a:spAutoFit/>
          </a:bodyPr>
          <a:lstStyle/>
          <a:p>
            <a:pPr algn="l">
              <a:lnSpc>
                <a:spcPts val="2108"/>
              </a:lnSpc>
            </a:pPr>
            <a:r>
              <a:rPr lang="en-US" sz="4217" b="true">
                <a:solidFill>
                  <a:srgbClr val="C8360D"/>
                </a:solidFill>
                <a:latin typeface="Playfair Display Bold"/>
                <a:ea typeface="Playfair Display Bold"/>
                <a:cs typeface="Playfair Display Bold"/>
                <a:sym typeface="Playfair Display Bold"/>
              </a:rPr>
              <a:t>Calculate the percentage contribution of each pizza type to total revenue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13041630" y="2596830"/>
            <a:ext cx="5246370" cy="7391257"/>
            <a:chOff x="0" y="0"/>
            <a:chExt cx="812800" cy="1145099"/>
          </a:xfrm>
        </p:grpSpPr>
        <p:sp>
          <p:nvSpPr>
            <p:cNvPr name="Freeform 4" id="4"/>
            <p:cNvSpPr/>
            <p:nvPr/>
          </p:nvSpPr>
          <p:spPr>
            <a:xfrm flipH="false" flipV="false" rot="0">
              <a:off x="0" y="0"/>
              <a:ext cx="812800" cy="1145099"/>
            </a:xfrm>
            <a:custGeom>
              <a:avLst/>
              <a:gdLst/>
              <a:ahLst/>
              <a:cxnLst/>
              <a:rect r="r" b="b" t="t" l="l"/>
              <a:pathLst>
                <a:path h="1145099" w="812800">
                  <a:moveTo>
                    <a:pt x="33940" y="0"/>
                  </a:moveTo>
                  <a:lnTo>
                    <a:pt x="778860" y="0"/>
                  </a:lnTo>
                  <a:cubicBezTo>
                    <a:pt x="797604" y="0"/>
                    <a:pt x="812800" y="15196"/>
                    <a:pt x="812800" y="33940"/>
                  </a:cubicBezTo>
                  <a:lnTo>
                    <a:pt x="812800" y="1111159"/>
                  </a:lnTo>
                  <a:cubicBezTo>
                    <a:pt x="812800" y="1129904"/>
                    <a:pt x="797604" y="1145099"/>
                    <a:pt x="778860" y="1145099"/>
                  </a:cubicBezTo>
                  <a:lnTo>
                    <a:pt x="33940" y="1145099"/>
                  </a:lnTo>
                  <a:cubicBezTo>
                    <a:pt x="24939" y="1145099"/>
                    <a:pt x="16306" y="1141523"/>
                    <a:pt x="9941" y="1135158"/>
                  </a:cubicBezTo>
                  <a:cubicBezTo>
                    <a:pt x="3576" y="1128793"/>
                    <a:pt x="0" y="1120160"/>
                    <a:pt x="0" y="1111159"/>
                  </a:cubicBezTo>
                  <a:lnTo>
                    <a:pt x="0" y="33940"/>
                  </a:lnTo>
                  <a:cubicBezTo>
                    <a:pt x="0" y="15196"/>
                    <a:pt x="15196" y="0"/>
                    <a:pt x="33940" y="0"/>
                  </a:cubicBezTo>
                  <a:close/>
                </a:path>
              </a:pathLst>
            </a:custGeom>
            <a:blipFill>
              <a:blip r:embed="rId3"/>
              <a:stretch>
                <a:fillRect l="-59716" t="-22302" r="-44988" b="-22999"/>
              </a:stretch>
            </a:blipFill>
          </p:spPr>
        </p:sp>
      </p:grpSp>
      <p:sp>
        <p:nvSpPr>
          <p:cNvPr name="Freeform 5" id="5"/>
          <p:cNvSpPr/>
          <p:nvPr/>
        </p:nvSpPr>
        <p:spPr>
          <a:xfrm flipH="false" flipV="false" rot="0">
            <a:off x="0" y="2323837"/>
            <a:ext cx="12787794" cy="4136787"/>
          </a:xfrm>
          <a:custGeom>
            <a:avLst/>
            <a:gdLst/>
            <a:ahLst/>
            <a:cxnLst/>
            <a:rect r="r" b="b" t="t" l="l"/>
            <a:pathLst>
              <a:path h="4136787" w="12787794">
                <a:moveTo>
                  <a:pt x="0" y="0"/>
                </a:moveTo>
                <a:lnTo>
                  <a:pt x="12787794" y="0"/>
                </a:lnTo>
                <a:lnTo>
                  <a:pt x="12787794" y="4136787"/>
                </a:lnTo>
                <a:lnTo>
                  <a:pt x="0" y="4136787"/>
                </a:lnTo>
                <a:lnTo>
                  <a:pt x="0" y="0"/>
                </a:lnTo>
                <a:close/>
              </a:path>
            </a:pathLst>
          </a:custGeom>
          <a:blipFill>
            <a:blip r:embed="rId4"/>
            <a:stretch>
              <a:fillRect l="0" t="-243" r="0" b="0"/>
            </a:stretch>
          </a:blipFill>
        </p:spPr>
      </p:sp>
      <p:sp>
        <p:nvSpPr>
          <p:cNvPr name="TextBox 6" id="6"/>
          <p:cNvSpPr txBox="true"/>
          <p:nvPr/>
        </p:nvSpPr>
        <p:spPr>
          <a:xfrm rot="0">
            <a:off x="801832" y="984124"/>
            <a:ext cx="14051867" cy="365377"/>
          </a:xfrm>
          <a:prstGeom prst="rect">
            <a:avLst/>
          </a:prstGeom>
        </p:spPr>
        <p:txBody>
          <a:bodyPr anchor="t" rtlCol="false" tIns="0" lIns="0" bIns="0" rIns="0">
            <a:spAutoFit/>
          </a:bodyPr>
          <a:lstStyle/>
          <a:p>
            <a:pPr algn="l">
              <a:lnSpc>
                <a:spcPts val="2108"/>
              </a:lnSpc>
            </a:pPr>
            <a:r>
              <a:rPr lang="en-US" sz="4217" b="true">
                <a:solidFill>
                  <a:srgbClr val="C8360D"/>
                </a:solidFill>
                <a:latin typeface="Playfair Display Bold"/>
                <a:ea typeface="Playfair Display Bold"/>
                <a:cs typeface="Playfair Display Bold"/>
                <a:sym typeface="Playfair Display Bold"/>
              </a:rPr>
              <a:t>Analyze the cumulative revenue generated over time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13041630" y="2596830"/>
            <a:ext cx="5246370" cy="7391257"/>
            <a:chOff x="0" y="0"/>
            <a:chExt cx="812800" cy="1145099"/>
          </a:xfrm>
        </p:grpSpPr>
        <p:sp>
          <p:nvSpPr>
            <p:cNvPr name="Freeform 4" id="4"/>
            <p:cNvSpPr/>
            <p:nvPr/>
          </p:nvSpPr>
          <p:spPr>
            <a:xfrm flipH="false" flipV="false" rot="0">
              <a:off x="0" y="0"/>
              <a:ext cx="812800" cy="1145099"/>
            </a:xfrm>
            <a:custGeom>
              <a:avLst/>
              <a:gdLst/>
              <a:ahLst/>
              <a:cxnLst/>
              <a:rect r="r" b="b" t="t" l="l"/>
              <a:pathLst>
                <a:path h="1145099" w="812800">
                  <a:moveTo>
                    <a:pt x="33940" y="0"/>
                  </a:moveTo>
                  <a:lnTo>
                    <a:pt x="778860" y="0"/>
                  </a:lnTo>
                  <a:cubicBezTo>
                    <a:pt x="797604" y="0"/>
                    <a:pt x="812800" y="15196"/>
                    <a:pt x="812800" y="33940"/>
                  </a:cubicBezTo>
                  <a:lnTo>
                    <a:pt x="812800" y="1111159"/>
                  </a:lnTo>
                  <a:cubicBezTo>
                    <a:pt x="812800" y="1129904"/>
                    <a:pt x="797604" y="1145099"/>
                    <a:pt x="778860" y="1145099"/>
                  </a:cubicBezTo>
                  <a:lnTo>
                    <a:pt x="33940" y="1145099"/>
                  </a:lnTo>
                  <a:cubicBezTo>
                    <a:pt x="24939" y="1145099"/>
                    <a:pt x="16306" y="1141523"/>
                    <a:pt x="9941" y="1135158"/>
                  </a:cubicBezTo>
                  <a:cubicBezTo>
                    <a:pt x="3576" y="1128793"/>
                    <a:pt x="0" y="1120160"/>
                    <a:pt x="0" y="1111159"/>
                  </a:cubicBezTo>
                  <a:lnTo>
                    <a:pt x="0" y="33940"/>
                  </a:lnTo>
                  <a:cubicBezTo>
                    <a:pt x="0" y="15196"/>
                    <a:pt x="15196" y="0"/>
                    <a:pt x="33940" y="0"/>
                  </a:cubicBezTo>
                  <a:close/>
                </a:path>
              </a:pathLst>
            </a:custGeom>
            <a:blipFill>
              <a:blip r:embed="rId3"/>
              <a:stretch>
                <a:fillRect l="-59716" t="-22302" r="-44988" b="-22999"/>
              </a:stretch>
            </a:blipFill>
          </p:spPr>
        </p:sp>
      </p:grpSp>
      <p:sp>
        <p:nvSpPr>
          <p:cNvPr name="Freeform 5" id="5"/>
          <p:cNvSpPr/>
          <p:nvPr/>
        </p:nvSpPr>
        <p:spPr>
          <a:xfrm flipH="false" flipV="false" rot="0">
            <a:off x="1295824" y="2494129"/>
            <a:ext cx="10427166" cy="5298742"/>
          </a:xfrm>
          <a:custGeom>
            <a:avLst/>
            <a:gdLst/>
            <a:ahLst/>
            <a:cxnLst/>
            <a:rect r="r" b="b" t="t" l="l"/>
            <a:pathLst>
              <a:path h="5298742" w="10427166">
                <a:moveTo>
                  <a:pt x="0" y="0"/>
                </a:moveTo>
                <a:lnTo>
                  <a:pt x="10427166" y="0"/>
                </a:lnTo>
                <a:lnTo>
                  <a:pt x="10427166" y="5298742"/>
                </a:lnTo>
                <a:lnTo>
                  <a:pt x="0" y="5298742"/>
                </a:lnTo>
                <a:lnTo>
                  <a:pt x="0" y="0"/>
                </a:lnTo>
                <a:close/>
              </a:path>
            </a:pathLst>
          </a:custGeom>
          <a:blipFill>
            <a:blip r:embed="rId4"/>
            <a:stretch>
              <a:fillRect l="0" t="0" r="0" b="0"/>
            </a:stretch>
          </a:blipFill>
        </p:spPr>
      </p:sp>
      <p:sp>
        <p:nvSpPr>
          <p:cNvPr name="TextBox 6" id="6"/>
          <p:cNvSpPr txBox="true"/>
          <p:nvPr/>
        </p:nvSpPr>
        <p:spPr>
          <a:xfrm rot="0">
            <a:off x="0" y="991108"/>
            <a:ext cx="18288000" cy="294259"/>
          </a:xfrm>
          <a:prstGeom prst="rect">
            <a:avLst/>
          </a:prstGeom>
        </p:spPr>
        <p:txBody>
          <a:bodyPr anchor="t" rtlCol="false" tIns="0" lIns="0" bIns="0" rIns="0">
            <a:spAutoFit/>
          </a:bodyPr>
          <a:lstStyle/>
          <a:p>
            <a:pPr algn="l">
              <a:lnSpc>
                <a:spcPts val="1708"/>
              </a:lnSpc>
            </a:pPr>
            <a:r>
              <a:rPr lang="en-US" sz="3417" b="true">
                <a:solidFill>
                  <a:srgbClr val="C8360D"/>
                </a:solidFill>
                <a:latin typeface="Playfair Display Bold"/>
                <a:ea typeface="Playfair Display Bold"/>
                <a:cs typeface="Playfair Display Bold"/>
                <a:sym typeface="Playfair Display Bold"/>
              </a:rPr>
              <a:t> Determine the top 3 most ordered pizza types based on revenue for each pizza category</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4431369" y="1701721"/>
            <a:ext cx="12827931" cy="6883557"/>
            <a:chOff x="0" y="0"/>
            <a:chExt cx="3378550" cy="1812953"/>
          </a:xfrm>
        </p:grpSpPr>
        <p:sp>
          <p:nvSpPr>
            <p:cNvPr name="Freeform 4" id="4"/>
            <p:cNvSpPr/>
            <p:nvPr/>
          </p:nvSpPr>
          <p:spPr>
            <a:xfrm flipH="false" flipV="false" rot="0">
              <a:off x="0" y="0"/>
              <a:ext cx="3378550" cy="1812953"/>
            </a:xfrm>
            <a:custGeom>
              <a:avLst/>
              <a:gdLst/>
              <a:ahLst/>
              <a:cxnLst/>
              <a:rect r="r" b="b" t="t" l="l"/>
              <a:pathLst>
                <a:path h="1812953" w="3378550">
                  <a:moveTo>
                    <a:pt x="30780" y="0"/>
                  </a:moveTo>
                  <a:lnTo>
                    <a:pt x="3347770" y="0"/>
                  </a:lnTo>
                  <a:cubicBezTo>
                    <a:pt x="3355933" y="0"/>
                    <a:pt x="3363762" y="3243"/>
                    <a:pt x="3369535" y="9015"/>
                  </a:cubicBezTo>
                  <a:cubicBezTo>
                    <a:pt x="3375307" y="14787"/>
                    <a:pt x="3378550" y="22616"/>
                    <a:pt x="3378550" y="30780"/>
                  </a:cubicBezTo>
                  <a:lnTo>
                    <a:pt x="3378550" y="1782174"/>
                  </a:lnTo>
                  <a:cubicBezTo>
                    <a:pt x="3378550" y="1799173"/>
                    <a:pt x="3364769" y="1812953"/>
                    <a:pt x="3347770" y="1812953"/>
                  </a:cubicBezTo>
                  <a:lnTo>
                    <a:pt x="30780" y="1812953"/>
                  </a:lnTo>
                  <a:cubicBezTo>
                    <a:pt x="13780" y="1812953"/>
                    <a:pt x="0" y="1799173"/>
                    <a:pt x="0" y="1782174"/>
                  </a:cubicBezTo>
                  <a:lnTo>
                    <a:pt x="0" y="30780"/>
                  </a:lnTo>
                  <a:cubicBezTo>
                    <a:pt x="0" y="13780"/>
                    <a:pt x="13780" y="0"/>
                    <a:pt x="30780" y="0"/>
                  </a:cubicBezTo>
                  <a:close/>
                </a:path>
              </a:pathLst>
            </a:custGeom>
            <a:ln w="38100" cap="rnd">
              <a:solidFill>
                <a:srgbClr val="C8360D"/>
              </a:solidFill>
              <a:prstDash val="solid"/>
              <a:round/>
            </a:ln>
          </p:spPr>
        </p:sp>
        <p:sp>
          <p:nvSpPr>
            <p:cNvPr name="TextBox 5" id="5"/>
            <p:cNvSpPr txBox="true"/>
            <p:nvPr/>
          </p:nvSpPr>
          <p:spPr>
            <a:xfrm>
              <a:off x="0" y="-38100"/>
              <a:ext cx="3378550" cy="1851053"/>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8700" y="1431447"/>
            <a:ext cx="7424105" cy="742410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8360D"/>
            </a:solidFill>
            <a:ln cap="sq">
              <a:no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298974" y="1701721"/>
            <a:ext cx="6883557" cy="688355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0" r="0" b="0"/>
              </a:stretch>
            </a:blipFill>
          </p:spPr>
        </p:sp>
      </p:grpSp>
      <p:sp>
        <p:nvSpPr>
          <p:cNvPr name="TextBox 11" id="11"/>
          <p:cNvSpPr txBox="true"/>
          <p:nvPr/>
        </p:nvSpPr>
        <p:spPr>
          <a:xfrm rot="0">
            <a:off x="9683332" y="3293885"/>
            <a:ext cx="6818638" cy="752442"/>
          </a:xfrm>
          <a:prstGeom prst="rect">
            <a:avLst/>
          </a:prstGeom>
        </p:spPr>
        <p:txBody>
          <a:bodyPr anchor="t" rtlCol="false" tIns="0" lIns="0" bIns="0" rIns="0">
            <a:spAutoFit/>
          </a:bodyPr>
          <a:lstStyle/>
          <a:p>
            <a:pPr algn="l">
              <a:lnSpc>
                <a:spcPts val="4499"/>
              </a:lnSpc>
            </a:pPr>
            <a:r>
              <a:rPr lang="en-US" sz="8999" b="true">
                <a:solidFill>
                  <a:srgbClr val="C8360D"/>
                </a:solidFill>
                <a:latin typeface="Playfair Display Bold"/>
                <a:ea typeface="Playfair Display Bold"/>
                <a:cs typeface="Playfair Display Bold"/>
                <a:sym typeface="Playfair Display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DAHH2Bn9IVs</dc:identifier>
  <dcterms:modified xsi:type="dcterms:W3CDTF">2011-08-01T06:04:30Z</dcterms:modified>
  <cp:revision>1</cp:revision>
  <dc:title>pizza sales</dc:title>
</cp:coreProperties>
</file>